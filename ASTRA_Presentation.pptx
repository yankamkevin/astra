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RAM (MB)</c:v>
                </c:pt>
              </c:strCache>
            </c:strRef>
          </c:tx>
          <c:spPr>
            <a:solidFill>
              <a:srgbClr val="35E0C1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5E0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5E0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A4E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7BE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Mock</c:v>
                  </c:pt>
                  <c:pt idx="1">
                    <c:v>SmolLM2</c:v>
                  </c:pt>
                  <c:pt idx="2">
                    <c:v>Gemma 3</c:v>
                  </c:pt>
                  <c:pt idx="3">
                    <c:v>Qwen3</c:v>
                  </c:pt>
                  <c:pt idx="4">
                    <c:v>Phi-4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512</c:v>
                </c:pt>
                <c:pt idx="2">
                  <c:v>1024</c:v>
                </c:pt>
                <c:pt idx="3">
                  <c:v>2048</c:v>
                </c:pt>
                <c:pt idx="4">
                  <c:v>4096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7D5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96"/>
          <c:min val="0"/>
        </c:scaling>
        <c:delete val="0"/>
        <c:axPos val="l"/>
        <c:majorGridlines>
          <c:spPr>
            <a:ln w="6350" cap="flat">
              <a:solidFill>
                <a:srgbClr val="2440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98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2547"/>
        </a:solidFill>
        <a:ln>
          <a:noFill/>
        </a:ln>
        <a:effectLst/>
      </c:spPr>
    </c:plotArea>
    <c:plotVisOnly val="1"/>
    <c:dispBlanksAs val="span"/>
  </c:chart>
  <c:spPr>
    <a:solidFill>
      <a:srgbClr val="11254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400800" cy="6400800"/>
          </a:xfrm>
          <a:prstGeom prst="ellipse">
            <a:avLst/>
          </a:prstGeom>
          <a:solidFill>
            <a:srgbClr val="4472C4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2194560"/>
            <a:ext cx="3840480" cy="3840480"/>
          </a:xfrm>
          <a:prstGeom prst="ellipse">
            <a:avLst/>
          </a:prstGeom>
          <a:solidFill>
            <a:srgbClr val="35E0C1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1234440"/>
            <a:ext cx="2468880" cy="4389120"/>
          </a:xfrm>
          <a:prstGeom prst="roundRect">
            <a:avLst>
              <a:gd name="adj" fmla="val 10370"/>
            </a:avLst>
          </a:prstGeom>
          <a:solidFill>
            <a:srgbClr val="1A2F57"/>
          </a:solidFill>
          <a:ln w="25400">
            <a:solidFill>
              <a:srgbClr val="223A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15400" y="1463040"/>
            <a:ext cx="2011680" cy="3931920"/>
          </a:xfrm>
          <a:prstGeom prst="roundRect">
            <a:avLst>
              <a:gd name="adj" fmla="val 8182"/>
            </a:avLst>
          </a:prstGeom>
          <a:solidFill>
            <a:srgbClr val="0C1B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9202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6968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quitte cet appareil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006840" y="4023360"/>
            <a:ext cx="822960" cy="621792"/>
          </a:xfrm>
          <a:prstGeom prst="roundRect">
            <a:avLst>
              <a:gd name="adj" fmla="val 11765"/>
            </a:avLst>
          </a:prstGeom>
          <a:solidFill>
            <a:srgbClr val="223A6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48" y="41148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06840" y="4370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9966960" y="4023360"/>
            <a:ext cx="822960" cy="621792"/>
          </a:xfrm>
          <a:prstGeom prst="roundRect">
            <a:avLst>
              <a:gd name="adj" fmla="val 11765"/>
            </a:avLst>
          </a:prstGeom>
          <a:solidFill>
            <a:srgbClr val="223A6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68" y="41148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66960" y="43708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9006840" y="4773168"/>
            <a:ext cx="822960" cy="621792"/>
          </a:xfrm>
          <a:prstGeom prst="roundRect">
            <a:avLst>
              <a:gd name="adj" fmla="val 11765"/>
            </a:avLst>
          </a:prstGeom>
          <a:solidFill>
            <a:srgbClr val="223A6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48" y="486460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06840" y="5120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Voix</a:t>
            </a:r>
            <a:endParaRPr lang="en-US" sz="800" dirty="0"/>
          </a:p>
        </p:txBody>
      </p:sp>
      <p:sp>
        <p:nvSpPr>
          <p:cNvPr id="18" name="Shape 12"/>
          <p:cNvSpPr/>
          <p:nvPr/>
        </p:nvSpPr>
        <p:spPr>
          <a:xfrm>
            <a:off x="9966960" y="4773168"/>
            <a:ext cx="822960" cy="621792"/>
          </a:xfrm>
          <a:prstGeom prst="roundRect">
            <a:avLst>
              <a:gd name="adj" fmla="val 11765"/>
            </a:avLst>
          </a:prstGeom>
          <a:solidFill>
            <a:srgbClr val="223A69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864608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966960" y="5120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731520" y="12801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8800" dirty="0"/>
          </a:p>
        </p:txBody>
      </p:sp>
      <p:sp>
        <p:nvSpPr>
          <p:cNvPr id="22" name="Text 15"/>
          <p:cNvSpPr/>
          <p:nvPr/>
        </p:nvSpPr>
        <p:spPr>
          <a:xfrm>
            <a:off x="77724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100" kern="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</a:t>
            </a:r>
            <a:pPr algn="l" indent="0" marL="0">
              <a:buNone/>
            </a:pPr>
            <a:r>
              <a:rPr lang="en-US" sz="2200" spc="1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2200" b="1" spc="100" kern="0" dirty="0">
                <a:solidFill>
                  <a:srgbClr val="6BA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</a:t>
            </a:r>
            <a:pPr algn="l" indent="0" marL="0">
              <a:buNone/>
            </a:pPr>
            <a:r>
              <a:rPr lang="en-US" sz="2200" spc="1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2200" b="1" spc="100" kern="0" dirty="0">
                <a:solidFill>
                  <a:srgbClr val="6BA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777240" y="34290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L'intelligence artificielle qui tourne entièrement sur votre appareil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sans cloud, sans compromis sur la vie privée.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777240" y="4572000"/>
            <a:ext cx="3931920" cy="548640"/>
          </a:xfrm>
          <a:prstGeom prst="roundRect">
            <a:avLst>
              <a:gd name="adj" fmla="val 50000"/>
            </a:avLst>
          </a:prstGeom>
          <a:solidFill>
            <a:srgbClr val="0C1B38"/>
          </a:solidFill>
          <a:ln w="19050">
            <a:solidFill>
              <a:srgbClr val="35E0C1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700016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17320" y="4572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Multiplatform  ·  Android &amp; iOS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CONSTAT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ASTRA 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429000" cy="2880360"/>
          </a:xfrm>
          <a:prstGeom prst="roundRect">
            <a:avLst>
              <a:gd name="adj" fmla="val 4444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331720"/>
            <a:ext cx="914400" cy="914400"/>
          </a:xfrm>
          <a:prstGeom prst="ellipse">
            <a:avLst/>
          </a:prstGeom>
          <a:solidFill>
            <a:srgbClr val="3A2030"/>
          </a:solidFill>
          <a:ln w="19050">
            <a:solidFill>
              <a:srgbClr val="E06A6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57860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dans le cloud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3886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apps IA envoient vos données vers des serveurs distants à chaque requête.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965960"/>
            <a:ext cx="3429000" cy="2880360"/>
          </a:xfrm>
          <a:prstGeom prst="roundRect">
            <a:avLst>
              <a:gd name="adj" fmla="val 4444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331720"/>
            <a:ext cx="914400" cy="914400"/>
          </a:xfrm>
          <a:prstGeom prst="ellipse">
            <a:avLst/>
          </a:prstGeom>
          <a:solidFill>
            <a:srgbClr val="3A2030"/>
          </a:solidFill>
          <a:ln w="19050">
            <a:solidFill>
              <a:srgbClr val="E06A6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57860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 privée compromise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54880" y="3886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Conversations, documents et emails analysés à distance — hors de votre contrôle.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2880360"/>
          </a:xfrm>
          <a:prstGeom prst="roundRect">
            <a:avLst>
              <a:gd name="adj" fmla="val 4444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331720"/>
            <a:ext cx="914400" cy="914400"/>
          </a:xfrm>
          <a:prstGeom prst="ellipse">
            <a:avLst/>
          </a:prstGeom>
          <a:solidFill>
            <a:srgbClr val="3A2030"/>
          </a:solidFill>
          <a:ln w="19050">
            <a:solidFill>
              <a:srgbClr val="E06A6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257860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 internet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8862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connexion, pas d'IA. Vos outils vous abandonnent hors ligne.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31520" y="5166360"/>
            <a:ext cx="10698480" cy="731520"/>
          </a:xfrm>
          <a:prstGeom prst="roundRect">
            <a:avLst>
              <a:gd name="adj" fmla="val 15000"/>
            </a:avLst>
          </a:prstGeom>
          <a:solidFill>
            <a:srgbClr val="35E0C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53492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51663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1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 résout tout ça — votre IA reste sur votre appareil, point.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qui reste chez vous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429000" cy="2331720"/>
          </a:xfrm>
          <a:prstGeom prst="roundRect">
            <a:avLst>
              <a:gd name="adj" fmla="val 5490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86000"/>
            <a:ext cx="868680" cy="868680"/>
          </a:xfrm>
          <a:prstGeom prst="ellipse">
            <a:avLst/>
          </a:prstGeom>
          <a:solidFill>
            <a:srgbClr val="0F3A3A"/>
          </a:solidFill>
          <a:ln w="19050">
            <a:solidFill>
              <a:srgbClr val="35E0C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514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377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On-Device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3337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ne quitte votre téléphone — jamais.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965960"/>
            <a:ext cx="3429000" cy="2331720"/>
          </a:xfrm>
          <a:prstGeom prst="roundRect">
            <a:avLst>
              <a:gd name="adj" fmla="val 5490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286000"/>
            <a:ext cx="868680" cy="868680"/>
          </a:xfrm>
          <a:prstGeom prst="ellipse">
            <a:avLst/>
          </a:prstGeom>
          <a:solidFill>
            <a:srgbClr val="0F3A3A"/>
          </a:solidFill>
          <a:ln w="19050">
            <a:solidFill>
              <a:srgbClr val="35E0C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14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2377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 ligne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54880" y="3337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 totalement sans connexion internet.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2331720"/>
          </a:xfrm>
          <a:prstGeom prst="roundRect">
            <a:avLst>
              <a:gd name="adj" fmla="val 5490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286000"/>
            <a:ext cx="868680" cy="868680"/>
          </a:xfrm>
          <a:prstGeom prst="ellipse">
            <a:avLst/>
          </a:prstGeom>
          <a:solidFill>
            <a:srgbClr val="0F3A3A"/>
          </a:solidFill>
          <a:ln w="19050">
            <a:solidFill>
              <a:srgbClr val="35E0C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5146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64040" y="2377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337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Texte, Voix, Image et Documents dans une seule app.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31520" y="461772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223A69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47548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21" name="Text 16"/>
          <p:cNvSpPr/>
          <p:nvPr/>
        </p:nvSpPr>
        <p:spPr>
          <a:xfrm>
            <a:off x="731520" y="5440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474720" y="461772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223A69"/>
          </a:solidFill>
          <a:ln/>
        </p:spPr>
      </p:sp>
      <p:sp>
        <p:nvSpPr>
          <p:cNvPr id="23" name="Text 18"/>
          <p:cNvSpPr/>
          <p:nvPr/>
        </p:nvSpPr>
        <p:spPr>
          <a:xfrm>
            <a:off x="3474720" y="47548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24" name="Text 19"/>
          <p:cNvSpPr/>
          <p:nvPr/>
        </p:nvSpPr>
        <p:spPr>
          <a:xfrm>
            <a:off x="3474720" y="5440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 RÉSEAU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217920" y="461772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223A69"/>
          </a:solidFill>
          <a:ln/>
        </p:spPr>
      </p:sp>
      <p:sp>
        <p:nvSpPr>
          <p:cNvPr id="26" name="Text 21"/>
          <p:cNvSpPr/>
          <p:nvPr/>
        </p:nvSpPr>
        <p:spPr>
          <a:xfrm>
            <a:off x="6217920" y="47548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27" name="Text 22"/>
          <p:cNvSpPr/>
          <p:nvPr/>
        </p:nvSpPr>
        <p:spPr>
          <a:xfrm>
            <a:off x="6217920" y="5440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IA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961120" y="461772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223A69"/>
          </a:solidFill>
          <a:ln/>
        </p:spPr>
      </p:sp>
      <p:sp>
        <p:nvSpPr>
          <p:cNvPr id="29" name="Text 24"/>
          <p:cNvSpPr/>
          <p:nvPr/>
        </p:nvSpPr>
        <p:spPr>
          <a:xfrm>
            <a:off x="8961120" y="47548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30" name="Text 25"/>
          <p:cNvSpPr/>
          <p:nvPr/>
        </p:nvSpPr>
        <p:spPr>
          <a:xfrm>
            <a:off x="8961120" y="54406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POSITIONNEMENT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 vs les apps IA cloud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4114800" cy="585216"/>
          </a:xfrm>
          <a:prstGeom prst="rect">
            <a:avLst/>
          </a:prstGeom>
          <a:solidFill>
            <a:srgbClr val="223A6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920240"/>
            <a:ext cx="3383280" cy="585216"/>
          </a:xfrm>
          <a:prstGeom prst="rect">
            <a:avLst/>
          </a:prstGeom>
          <a:solidFill>
            <a:srgbClr val="223A69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192024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1920240"/>
            <a:ext cx="3200400" cy="585216"/>
          </a:xfrm>
          <a:prstGeom prst="rect">
            <a:avLst/>
          </a:prstGeom>
          <a:solidFill>
            <a:srgbClr val="223A69"/>
          </a:solidFill>
          <a:ln/>
        </p:spPr>
      </p:sp>
      <p:sp>
        <p:nvSpPr>
          <p:cNvPr id="9" name="Text 7"/>
          <p:cNvSpPr/>
          <p:nvPr/>
        </p:nvSpPr>
        <p:spPr>
          <a:xfrm>
            <a:off x="8458200" y="192024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IA Cloud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578608"/>
            <a:ext cx="4114800" cy="585216"/>
          </a:xfrm>
          <a:prstGeom prst="rect">
            <a:avLst/>
          </a:prstGeom>
          <a:solidFill>
            <a:srgbClr val="1A2F5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7860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Où tournent vos données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578608"/>
            <a:ext cx="3383280" cy="585216"/>
          </a:xfrm>
          <a:prstGeom prst="rect">
            <a:avLst/>
          </a:prstGeom>
          <a:solidFill>
            <a:srgbClr val="133F42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257860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l'appareil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2578608"/>
            <a:ext cx="3200400" cy="585216"/>
          </a:xfrm>
          <a:prstGeom prst="rect">
            <a:avLst/>
          </a:prstGeom>
          <a:solidFill>
            <a:srgbClr val="1A2F57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257860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Serveurs distants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236976"/>
            <a:ext cx="4114800" cy="585216"/>
          </a:xfrm>
          <a:prstGeom prst="rect">
            <a:avLst/>
          </a:prstGeom>
          <a:solidFill>
            <a:srgbClr val="1A2F57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23697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 hors ligne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3236976"/>
            <a:ext cx="3383280" cy="585216"/>
          </a:xfrm>
          <a:prstGeom prst="rect">
            <a:avLst/>
          </a:prstGeom>
          <a:solidFill>
            <a:srgbClr val="133F4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2" y="3374136"/>
            <a:ext cx="310896" cy="310896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229600" y="3236976"/>
            <a:ext cx="3200400" cy="585216"/>
          </a:xfrm>
          <a:prstGeom prst="rect">
            <a:avLst/>
          </a:prstGeom>
          <a:solidFill>
            <a:srgbClr val="1A2F57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3374136"/>
            <a:ext cx="310896" cy="31089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31520" y="3895344"/>
            <a:ext cx="4114800" cy="585216"/>
          </a:xfrm>
          <a:prstGeom prst="rect">
            <a:avLst/>
          </a:prstGeom>
          <a:solidFill>
            <a:srgbClr val="1A2F57"/>
          </a:solidFill>
          <a:ln/>
        </p:spPr>
      </p:sp>
      <p:sp>
        <p:nvSpPr>
          <p:cNvPr id="23" name="Text 19"/>
          <p:cNvSpPr/>
          <p:nvPr/>
        </p:nvSpPr>
        <p:spPr>
          <a:xfrm>
            <a:off x="960120" y="389534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Confidentialité des données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846320" y="3895344"/>
            <a:ext cx="3383280" cy="585216"/>
          </a:xfrm>
          <a:prstGeom prst="rect">
            <a:avLst/>
          </a:prstGeom>
          <a:solidFill>
            <a:srgbClr val="133F42"/>
          </a:solidFill>
          <a:ln/>
        </p:spPr>
      </p:sp>
      <p:sp>
        <p:nvSpPr>
          <p:cNvPr id="25" name="Text 21"/>
          <p:cNvSpPr/>
          <p:nvPr/>
        </p:nvSpPr>
        <p:spPr>
          <a:xfrm>
            <a:off x="5074920" y="389534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229600" y="3895344"/>
            <a:ext cx="3200400" cy="585216"/>
          </a:xfrm>
          <a:prstGeom prst="rect">
            <a:avLst/>
          </a:prstGeom>
          <a:solidFill>
            <a:srgbClr val="1A2F57"/>
          </a:solidFill>
          <a:ln/>
        </p:spPr>
      </p:sp>
      <p:sp>
        <p:nvSpPr>
          <p:cNvPr id="27" name="Text 23"/>
          <p:cNvSpPr/>
          <p:nvPr/>
        </p:nvSpPr>
        <p:spPr>
          <a:xfrm>
            <a:off x="8458200" y="389534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Partagée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731520" y="4553712"/>
            <a:ext cx="4114800" cy="585216"/>
          </a:xfrm>
          <a:prstGeom prst="rect">
            <a:avLst/>
          </a:prstGeom>
          <a:solidFill>
            <a:srgbClr val="1A2F57"/>
          </a:solidFill>
          <a:ln/>
        </p:spPr>
      </p:sp>
      <p:sp>
        <p:nvSpPr>
          <p:cNvPr id="29" name="Text 25"/>
          <p:cNvSpPr/>
          <p:nvPr/>
        </p:nvSpPr>
        <p:spPr>
          <a:xfrm>
            <a:off x="960120" y="455371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réseau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846320" y="4553712"/>
            <a:ext cx="3383280" cy="585216"/>
          </a:xfrm>
          <a:prstGeom prst="rect">
            <a:avLst/>
          </a:prstGeom>
          <a:solidFill>
            <a:srgbClr val="133F42"/>
          </a:solidFill>
          <a:ln/>
        </p:spPr>
      </p:sp>
      <p:sp>
        <p:nvSpPr>
          <p:cNvPr id="31" name="Text 27"/>
          <p:cNvSpPr/>
          <p:nvPr/>
        </p:nvSpPr>
        <p:spPr>
          <a:xfrm>
            <a:off x="5074920" y="455371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Nulle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8229600" y="4553712"/>
            <a:ext cx="3200400" cy="585216"/>
          </a:xfrm>
          <a:prstGeom prst="rect">
            <a:avLst/>
          </a:prstGeom>
          <a:solidFill>
            <a:srgbClr val="1A2F57"/>
          </a:solidFill>
          <a:ln/>
        </p:spPr>
      </p:sp>
      <p:sp>
        <p:nvSpPr>
          <p:cNvPr id="33" name="Text 29"/>
          <p:cNvSpPr/>
          <p:nvPr/>
        </p:nvSpPr>
        <p:spPr>
          <a:xfrm>
            <a:off x="8458200" y="455371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731520" y="5212080"/>
            <a:ext cx="4114800" cy="585216"/>
          </a:xfrm>
          <a:prstGeom prst="rect">
            <a:avLst/>
          </a:prstGeom>
          <a:solidFill>
            <a:srgbClr val="1A2F57"/>
          </a:solidFill>
          <a:ln/>
        </p:spPr>
      </p:sp>
      <p:sp>
        <p:nvSpPr>
          <p:cNvPr id="35" name="Text 31"/>
          <p:cNvSpPr/>
          <p:nvPr/>
        </p:nvSpPr>
        <p:spPr>
          <a:xfrm>
            <a:off x="960120" y="521208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par requête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4846320" y="5212080"/>
            <a:ext cx="3383280" cy="585216"/>
          </a:xfrm>
          <a:prstGeom prst="rect">
            <a:avLst/>
          </a:prstGeom>
          <a:solidFill>
            <a:srgbClr val="133F42"/>
          </a:solidFill>
          <a:ln/>
        </p:spPr>
      </p:sp>
      <p:sp>
        <p:nvSpPr>
          <p:cNvPr id="37" name="Text 33"/>
          <p:cNvSpPr/>
          <p:nvPr/>
        </p:nvSpPr>
        <p:spPr>
          <a:xfrm>
            <a:off x="5074920" y="521208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8229600" y="5212080"/>
            <a:ext cx="3200400" cy="585216"/>
          </a:xfrm>
          <a:prstGeom prst="rect">
            <a:avLst/>
          </a:prstGeom>
          <a:solidFill>
            <a:srgbClr val="1A2F57"/>
          </a:solidFill>
          <a:ln/>
        </p:spPr>
      </p:sp>
      <p:sp>
        <p:nvSpPr>
          <p:cNvPr id="39" name="Text 35"/>
          <p:cNvSpPr/>
          <p:nvPr/>
        </p:nvSpPr>
        <p:spPr>
          <a:xfrm>
            <a:off x="8458200" y="521208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l'usage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qu'ASTRA sait faire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2194560"/>
            <a:ext cx="777240" cy="777240"/>
          </a:xfrm>
          <a:prstGeom prst="ellipse">
            <a:avLst/>
          </a:prstGeom>
          <a:solidFill>
            <a:srgbClr val="13315C"/>
          </a:solidFill>
          <a:ln w="16510">
            <a:solidFill>
              <a:srgbClr val="6BA4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868" y="24003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945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IA + pièces jointes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24128" y="30906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Multi-tours ; joignez PDF, image, email ou Gmail à la conversation.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192024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27448" y="2194560"/>
            <a:ext cx="777240" cy="777240"/>
          </a:xfrm>
          <a:prstGeom prst="ellipse">
            <a:avLst/>
          </a:prstGeom>
          <a:solidFill>
            <a:srgbClr val="13315C"/>
          </a:solidFill>
          <a:ln w="16510">
            <a:solidFill>
              <a:srgbClr val="6BA4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88" y="24003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21945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multi-sources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27448" y="30906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fichiers .eml/.mbox et Gmail — indexés localement.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194560"/>
            <a:ext cx="777240" cy="777240"/>
          </a:xfrm>
          <a:prstGeom prst="ellipse">
            <a:avLst/>
          </a:prstGeom>
          <a:solidFill>
            <a:srgbClr val="13315C"/>
          </a:solidFill>
          <a:ln w="16510">
            <a:solidFill>
              <a:srgbClr val="6BA4E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24003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0" y="21945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(lecture seule)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30768" y="30906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Récupéré depuis Google, analysé 100% on-device.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406908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24128" y="4343400"/>
            <a:ext cx="777240" cy="777240"/>
          </a:xfrm>
          <a:prstGeom prst="ellipse">
            <a:avLst/>
          </a:prstGeom>
          <a:solidFill>
            <a:srgbClr val="13315C"/>
          </a:solidFill>
          <a:ln w="16510">
            <a:solidFill>
              <a:srgbClr val="6BA4E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868" y="45491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20240" y="4343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Assistant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024128" y="523951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Parlez, ASTRA répond — STT + TTS on-device.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34840" y="406908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27448" y="4343400"/>
            <a:ext cx="777240" cy="777240"/>
          </a:xfrm>
          <a:prstGeom prst="ellipse">
            <a:avLst/>
          </a:prstGeom>
          <a:solidFill>
            <a:srgbClr val="13315C"/>
          </a:solidFill>
          <a:ln w="16510">
            <a:solidFill>
              <a:srgbClr val="6BA4E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188" y="45491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23560" y="4343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727448" y="523951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Analysez des images avec l'IA locale.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38160" y="4069080"/>
            <a:ext cx="3429000" cy="1874520"/>
          </a:xfrm>
          <a:prstGeom prst="roundRect">
            <a:avLst>
              <a:gd name="adj" fmla="val 6829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0768" y="4343400"/>
            <a:ext cx="777240" cy="777240"/>
          </a:xfrm>
          <a:prstGeom prst="ellipse">
            <a:avLst/>
          </a:prstGeom>
          <a:solidFill>
            <a:srgbClr val="13315C"/>
          </a:solidFill>
          <a:ln w="16510">
            <a:solidFill>
              <a:srgbClr val="6BA4E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508" y="454914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26880" y="43434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30768" y="523951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Perfs mesurées en temps réel + modèles gated (HF).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 LE CAPOT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Document Assistant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A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un document devient une réponse — 100% sur l'appareil.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1234440" cy="1234440"/>
          </a:xfrm>
          <a:prstGeom prst="ellipse">
            <a:avLst/>
          </a:prstGeom>
          <a:solidFill>
            <a:srgbClr val="1A2F57"/>
          </a:solidFill>
          <a:ln w="31750">
            <a:solidFill>
              <a:srgbClr val="4472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8803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Email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2999232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60904" y="2514600"/>
            <a:ext cx="1234440" cy="1234440"/>
          </a:xfrm>
          <a:prstGeom prst="ellipse">
            <a:avLst/>
          </a:prstGeom>
          <a:solidFill>
            <a:srgbClr val="1A2F57"/>
          </a:solidFill>
          <a:ln w="31750">
            <a:solidFill>
              <a:srgbClr val="4472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664" y="288036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32304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2432304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brut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352" y="2999232"/>
            <a:ext cx="274320" cy="274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544568" y="2514600"/>
            <a:ext cx="1234440" cy="1234440"/>
          </a:xfrm>
          <a:prstGeom prst="ellipse">
            <a:avLst/>
          </a:prstGeom>
          <a:solidFill>
            <a:srgbClr val="1A2F57"/>
          </a:solidFill>
          <a:ln w="31750">
            <a:solidFill>
              <a:srgbClr val="4472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2880360"/>
            <a:ext cx="502920" cy="5029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15968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315968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mots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16" y="2999232"/>
            <a:ext cx="274320" cy="27432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428232" y="2514600"/>
            <a:ext cx="1234440" cy="1234440"/>
          </a:xfrm>
          <a:prstGeom prst="ellipse">
            <a:avLst/>
          </a:prstGeom>
          <a:solidFill>
            <a:srgbClr val="1A2F57"/>
          </a:solidFill>
          <a:ln w="31750">
            <a:solidFill>
              <a:srgbClr val="4472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2880360"/>
            <a:ext cx="502920" cy="5029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199632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Indexation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6199632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endParaRPr lang="en-US" sz="11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0" y="2999232"/>
            <a:ext cx="274320" cy="27432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8311896" y="2514600"/>
            <a:ext cx="1234440" cy="1234440"/>
          </a:xfrm>
          <a:prstGeom prst="ellipse">
            <a:avLst/>
          </a:prstGeom>
          <a:solidFill>
            <a:srgbClr val="1A2F57"/>
          </a:solidFill>
          <a:ln w="31750">
            <a:solidFill>
              <a:srgbClr val="4472C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2880360"/>
            <a:ext cx="502920" cy="50292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8083296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28" name="Text 17"/>
          <p:cNvSpPr/>
          <p:nvPr/>
        </p:nvSpPr>
        <p:spPr>
          <a:xfrm>
            <a:off x="8083296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chunks</a:t>
            </a:r>
            <a:endParaRPr lang="en-US" sz="11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0344" y="2999232"/>
            <a:ext cx="274320" cy="274320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10195560" y="2514600"/>
            <a:ext cx="1234440" cy="1234440"/>
          </a:xfrm>
          <a:prstGeom prst="ellipse">
            <a:avLst/>
          </a:prstGeom>
          <a:solidFill>
            <a:srgbClr val="1A2F57"/>
          </a:solidFill>
          <a:ln w="31750">
            <a:solidFill>
              <a:srgbClr val="35E0C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61320" y="2880360"/>
            <a:ext cx="502920" cy="50292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9966960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IA</a:t>
            </a:r>
            <a:endParaRPr lang="en-US" sz="1300" dirty="0"/>
          </a:p>
        </p:txBody>
      </p:sp>
      <p:sp>
        <p:nvSpPr>
          <p:cNvPr id="33" name="Text 20"/>
          <p:cNvSpPr/>
          <p:nvPr/>
        </p:nvSpPr>
        <p:spPr>
          <a:xfrm>
            <a:off x="9966960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</a:t>
            </a:r>
            <a:endParaRPr lang="en-US" sz="1100" dirty="0"/>
          </a:p>
        </p:txBody>
      </p:sp>
      <p:sp>
        <p:nvSpPr>
          <p:cNvPr id="34" name="Shape 21"/>
          <p:cNvSpPr/>
          <p:nvPr/>
        </p:nvSpPr>
        <p:spPr>
          <a:xfrm>
            <a:off x="731520" y="5029200"/>
            <a:ext cx="10698480" cy="777240"/>
          </a:xfrm>
          <a:prstGeom prst="roundRect">
            <a:avLst>
              <a:gd name="adj" fmla="val 14118"/>
            </a:avLst>
          </a:prstGeom>
          <a:solidFill>
            <a:srgbClr val="223A69"/>
          </a:solidFill>
          <a:ln/>
        </p:spPr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1560" y="5212080"/>
            <a:ext cx="402336" cy="402336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1600200" y="5029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documents ne quittent jamais l'appareil — traitement 100% local, 0 requête réseau.</a:t>
            </a:r>
            <a:endParaRPr lang="en-US" sz="1400" dirty="0"/>
          </a:p>
        </p:txBody>
      </p:sp>
      <p:sp>
        <p:nvSpPr>
          <p:cNvPr id="37" name="Text 23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1000" dirty="0"/>
          </a:p>
        </p:txBody>
      </p:sp>
      <p:sp>
        <p:nvSpPr>
          <p:cNvPr id="38" name="Text 24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modèles, du léger au puissant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1A2F5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21408"/>
            <a:ext cx="219456" cy="219456"/>
          </a:xfrm>
          <a:prstGeom prst="ellipse">
            <a:avLst/>
          </a:prstGeom>
          <a:solidFill>
            <a:srgbClr val="8098B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9202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Model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23360" y="192024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70048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1A2F57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2871216"/>
            <a:ext cx="219456" cy="219456"/>
          </a:xfrm>
          <a:prstGeom prst="ellipse">
            <a:avLst/>
          </a:prstGeom>
          <a:solidFill>
            <a:srgbClr val="35E0C1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67004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SmolLM2 360M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23360" y="26700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267004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MB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19856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1A2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621024"/>
            <a:ext cx="219456" cy="219456"/>
          </a:xfrm>
          <a:prstGeom prst="ellipse">
            <a:avLst/>
          </a:prstGeom>
          <a:solidFill>
            <a:srgbClr val="6BA4E0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41985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1B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023360" y="341985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0" y="341985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BA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169664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1A2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4370832"/>
            <a:ext cx="219456" cy="219456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416966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 1.7B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023360" y="416966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Alibaba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0" y="4169664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GB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919472"/>
            <a:ext cx="5486400" cy="621792"/>
          </a:xfrm>
          <a:prstGeom prst="roundRect">
            <a:avLst>
              <a:gd name="adj" fmla="val 14706"/>
            </a:avLst>
          </a:prstGeom>
          <a:solidFill>
            <a:srgbClr val="1A2F57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5120640"/>
            <a:ext cx="219456" cy="219456"/>
          </a:xfrm>
          <a:prstGeom prst="ellipse">
            <a:avLst/>
          </a:prstGeom>
          <a:solidFill>
            <a:srgbClr val="9B7BE0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491947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 Mini 3.8B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023360" y="491947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0" y="4919472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B7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58064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223A69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806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A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Format LiteRT-LM (MediaPipe) · GPU / NNAPI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EMPREINTE MÉMOIRE (RAM REQUISE)</a:t>
            </a:r>
            <a:endParaRPr lang="en-US" sz="12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6492240" y="224028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3" name="Text 30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INGÉNIERIE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Clean + KMP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566160" y="187452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5B8DD6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204825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34840" y="187452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  </a:t>
            </a:r>
            <a:pPr algn="l" indent="0" marL="0">
              <a:buNone/>
            </a:pPr>
            <a:r>
              <a:rPr lang="en-US" sz="1250" dirty="0">
                <a:solidFill>
                  <a:srgbClr val="DD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Multiplatform + MVI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2715768"/>
            <a:ext cx="6126480" cy="713232"/>
          </a:xfrm>
          <a:prstGeom prst="roundRect">
            <a:avLst>
              <a:gd name="adj" fmla="val 10256"/>
            </a:avLst>
          </a:prstGeom>
          <a:solidFill>
            <a:srgbClr val="4478C0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889504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86200" y="271576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  </a:t>
            </a:r>
            <a:pPr algn="l" indent="0" marL="0">
              <a:buNone/>
            </a:pPr>
            <a:r>
              <a:rPr lang="en-US" sz="1250" dirty="0">
                <a:solidFill>
                  <a:srgbClr val="DD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UseCases + Interfaces (Kotlin pur)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468880" y="3557016"/>
            <a:ext cx="7223760" cy="713232"/>
          </a:xfrm>
          <a:prstGeom prst="roundRect">
            <a:avLst>
              <a:gd name="adj" fmla="val 10256"/>
            </a:avLst>
          </a:prstGeom>
          <a:solidFill>
            <a:srgbClr val="36609F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373075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37560" y="3557016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  </a:t>
            </a:r>
            <a:pPr algn="l" indent="0" marL="0">
              <a:buNone/>
            </a:pPr>
            <a:r>
              <a:rPr lang="en-US" sz="1250" dirty="0">
                <a:solidFill>
                  <a:srgbClr val="DD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 + KeyValue Store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1920240" y="4398264"/>
            <a:ext cx="8321040" cy="713232"/>
          </a:xfrm>
          <a:prstGeom prst="roundRect">
            <a:avLst>
              <a:gd name="adj" fmla="val 10256"/>
            </a:avLst>
          </a:prstGeom>
          <a:solidFill>
            <a:srgbClr val="294B7E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457200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88920" y="4398264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AI   </a:t>
            </a:r>
            <a:pPr algn="l" indent="0" marL="0">
              <a:buNone/>
            </a:pPr>
            <a:r>
              <a:rPr lang="en-US" sz="1250" dirty="0">
                <a:solidFill>
                  <a:srgbClr val="DD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LiteRT-LM / MockEngine + PromptPipeline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1371600" y="5239512"/>
            <a:ext cx="9418320" cy="713232"/>
          </a:xfrm>
          <a:prstGeom prst="roundRect">
            <a:avLst>
              <a:gd name="adj" fmla="val 10256"/>
            </a:avLst>
          </a:prstGeom>
          <a:solidFill>
            <a:srgbClr val="1D375E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40" y="5413248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240280" y="523951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  </a:t>
            </a:r>
            <a:pPr algn="l" indent="0" marL="0">
              <a:buNone/>
            </a:pPr>
            <a:r>
              <a:rPr lang="en-US" sz="1250" dirty="0">
                <a:solidFill>
                  <a:srgbClr val="DD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Koin DI + expect/actual KMP</a:t>
            </a:r>
            <a:endParaRPr lang="en-US" sz="15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617220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72200" y="6144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Logique partagée — un seul code pour Android &amp; iOS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techniques clés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257800" cy="1874520"/>
          </a:xfrm>
          <a:prstGeom prst="roundRect">
            <a:avLst>
              <a:gd name="adj" fmla="val 6829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40280"/>
            <a:ext cx="822960" cy="822960"/>
          </a:xfrm>
          <a:prstGeom prst="ellipse">
            <a:avLst/>
          </a:prstGeom>
          <a:solidFill>
            <a:srgbClr val="0F3A3A"/>
          </a:solidFill>
          <a:ln w="17780">
            <a:solidFill>
              <a:srgbClr val="35E0C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4505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2402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KMP vs Flutter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057400" y="263347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35E0C1"/>
          </a:solidFill>
          <a:ln/>
        </p:spPr>
      </p:sp>
      <p:sp>
        <p:nvSpPr>
          <p:cNvPr id="9" name="Text 6"/>
          <p:cNvSpPr/>
          <p:nvPr/>
        </p:nvSpPr>
        <p:spPr>
          <a:xfrm>
            <a:off x="2057400" y="2633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1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KMP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97280" y="3200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natif partagé, performance iOS/Android maximale.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920240"/>
            <a:ext cx="5257800" cy="1874520"/>
          </a:xfrm>
          <a:prstGeom prst="roundRect">
            <a:avLst>
              <a:gd name="adj" fmla="val 6829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240280"/>
            <a:ext cx="822960" cy="822960"/>
          </a:xfrm>
          <a:prstGeom prst="ellipse">
            <a:avLst/>
          </a:prstGeom>
          <a:solidFill>
            <a:srgbClr val="0F3A3A"/>
          </a:solidFill>
          <a:ln w="17780">
            <a:solidFill>
              <a:srgbClr val="35E0C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45059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22402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LiteRT-LM vs llama.cpp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589520" y="263347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35E0C1"/>
          </a:solidFill>
          <a:ln/>
        </p:spPr>
      </p:sp>
      <p:sp>
        <p:nvSpPr>
          <p:cNvPr id="16" name="Text 12"/>
          <p:cNvSpPr/>
          <p:nvPr/>
        </p:nvSpPr>
        <p:spPr>
          <a:xfrm>
            <a:off x="7589520" y="2633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1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LiteRT-LM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629400" y="3200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Google officiel, accélération GPU/NNAPI.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31520" y="4023360"/>
            <a:ext cx="5257800" cy="1874520"/>
          </a:xfrm>
          <a:prstGeom prst="roundRect">
            <a:avLst>
              <a:gd name="adj" fmla="val 6829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051560" y="4343400"/>
            <a:ext cx="822960" cy="822960"/>
          </a:xfrm>
          <a:prstGeom prst="ellipse">
            <a:avLst/>
          </a:prstGeom>
          <a:solidFill>
            <a:srgbClr val="0F3A3A"/>
          </a:solidFill>
          <a:ln w="17780">
            <a:solidFill>
              <a:srgbClr val="35E0C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455371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057400" y="4343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MVI vs MVVM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057400" y="473659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35E0C1"/>
          </a:solidFill>
          <a:ln/>
        </p:spPr>
      </p:sp>
      <p:sp>
        <p:nvSpPr>
          <p:cNvPr id="23" name="Text 18"/>
          <p:cNvSpPr/>
          <p:nvPr/>
        </p:nvSpPr>
        <p:spPr>
          <a:xfrm>
            <a:off x="2057400" y="47365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1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MVI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097280" y="5303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 immutable, flux unidirectionnel, 100% testable.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263640" y="4023360"/>
            <a:ext cx="5257800" cy="1874520"/>
          </a:xfrm>
          <a:prstGeom prst="roundRect">
            <a:avLst>
              <a:gd name="adj" fmla="val 6829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83680" y="4343400"/>
            <a:ext cx="822960" cy="822960"/>
          </a:xfrm>
          <a:prstGeom prst="ellipse">
            <a:avLst/>
          </a:prstGeom>
          <a:solidFill>
            <a:srgbClr val="0F3A3A"/>
          </a:solidFill>
          <a:ln w="17780">
            <a:solidFill>
              <a:srgbClr val="35E0C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55371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89520" y="4343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local vs cloud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589520" y="4736592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35E0C1"/>
          </a:solidFill>
          <a:ln/>
        </p:spPr>
      </p:sp>
      <p:sp>
        <p:nvSpPr>
          <p:cNvPr id="30" name="Text 24"/>
          <p:cNvSpPr/>
          <p:nvPr/>
        </p:nvSpPr>
        <p:spPr>
          <a:xfrm>
            <a:off x="7589520" y="47365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1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Local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629400" y="5303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fuite de données, fonctionne offline.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LA VRAIE VIE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 d'usage concret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051560"/>
          </a:xfrm>
          <a:prstGeom prst="roundRect">
            <a:avLst>
              <a:gd name="adj" fmla="val 12174"/>
            </a:avLst>
          </a:prstGeom>
          <a:solidFill>
            <a:srgbClr val="223A69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594360" cy="594360"/>
          </a:xfrm>
          <a:prstGeom prst="ellipse">
            <a:avLst/>
          </a:prstGeom>
          <a:solidFill>
            <a:srgbClr val="0F3A3A"/>
          </a:solidFill>
          <a:ln w="16510">
            <a:solidFill>
              <a:srgbClr val="35E0C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1762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Diane, avocate d'affaires  </a:t>
            </a:r>
            <a:pPr algn="l" indent="0" marL="0">
              <a:buNone/>
            </a:pPr>
            <a:r>
              <a:rPr lang="en-US" sz="140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en vol, sans réseau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3957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 doit analyser un contrat confidentiel de 80 pages avant d'atterrir.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3108960"/>
            <a:ext cx="5257800" cy="3063240"/>
          </a:xfrm>
          <a:prstGeom prst="roundRect">
            <a:avLst>
              <a:gd name="adj" fmla="val 4179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3429000"/>
            <a:ext cx="640080" cy="640080"/>
          </a:xfrm>
          <a:prstGeom prst="ellipse">
            <a:avLst/>
          </a:prstGeom>
          <a:solidFill>
            <a:srgbClr val="3A2030"/>
          </a:solidFill>
          <a:ln w="16510">
            <a:solidFill>
              <a:srgbClr val="E06A6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35844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4290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ASTRA</a:t>
            </a:r>
            <a:endParaRPr lang="en-US" sz="1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98264"/>
            <a:ext cx="137160" cy="1371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9888" y="4343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du contrat sur un serveur cloud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965192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89888" y="49103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sensibles exposées à un tiers</a:t>
            </a:r>
            <a:endParaRPr lang="en-US" sz="1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532120"/>
            <a:ext cx="137160" cy="1371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89888" y="547725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sans connexion internet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263640" y="3108960"/>
            <a:ext cx="5257800" cy="3063240"/>
          </a:xfrm>
          <a:prstGeom prst="roundRect">
            <a:avLst>
              <a:gd name="adj" fmla="val 4179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6583680" y="3429000"/>
            <a:ext cx="640080" cy="640080"/>
          </a:xfrm>
          <a:prstGeom prst="ellipse">
            <a:avLst/>
          </a:prstGeom>
          <a:solidFill>
            <a:srgbClr val="0F3A3A"/>
          </a:solidFill>
          <a:ln w="16510">
            <a:solidFill>
              <a:srgbClr val="35E0C1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358444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360920" y="342900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ASTRA</a:t>
            </a:r>
            <a:endParaRPr lang="en-US" sz="17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398264"/>
            <a:ext cx="137160" cy="13716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22008" y="4343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du PDF directement dans l'app</a:t>
            </a:r>
            <a:endParaRPr lang="en-US" sz="12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965192"/>
            <a:ext cx="137160" cy="13716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22008" y="491032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100% locale, rien n'est envoyé</a:t>
            </a:r>
            <a:endParaRPr lang="en-US" sz="12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5532120"/>
            <a:ext cx="137160" cy="13716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922008" y="547725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Réponses instantanées, même hors ligne</a:t>
            </a:r>
            <a:endParaRPr lang="en-US" sz="1250" dirty="0"/>
          </a:p>
        </p:txBody>
      </p:sp>
      <p:sp>
        <p:nvSpPr>
          <p:cNvPr id="29" name="Text 18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1000" dirty="0"/>
          </a:p>
        </p:txBody>
      </p:sp>
      <p:sp>
        <p:nvSpPr>
          <p:cNvPr id="30" name="Text 19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arrive ensuite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429000" cy="4160520"/>
          </a:xfrm>
          <a:prstGeom prst="roundRect">
            <a:avLst>
              <a:gd name="adj" fmla="val 3733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3429000" cy="777240"/>
          </a:xfrm>
          <a:prstGeom prst="roundRect">
            <a:avLst>
              <a:gd name="adj" fmla="val 16471"/>
            </a:avLst>
          </a:prstGeom>
          <a:solidFill>
            <a:srgbClr val="223A6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377440"/>
            <a:ext cx="3429000" cy="320040"/>
          </a:xfrm>
          <a:prstGeom prst="rect">
            <a:avLst/>
          </a:prstGeom>
          <a:solidFill>
            <a:srgbClr val="223A6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3969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20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Livré ✓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017520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971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RAG (.eml / .mbox)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767328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7216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lecture seule (OAuth natif)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517136"/>
            <a:ext cx="146304" cy="1463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880" y="447141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Email/Gmail dans le chat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66944"/>
            <a:ext cx="146304" cy="14630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25880" y="522122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Garde-fou contexte modèle</a:t>
            </a:r>
            <a:endParaRPr lang="en-US" sz="12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6016752"/>
            <a:ext cx="146304" cy="14630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325880" y="597103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Android + iOS + tests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4434840" y="1920240"/>
            <a:ext cx="3429000" cy="4160520"/>
          </a:xfrm>
          <a:prstGeom prst="roundRect">
            <a:avLst>
              <a:gd name="adj" fmla="val 3733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4434840" y="1920240"/>
            <a:ext cx="3429000" cy="777240"/>
          </a:xfrm>
          <a:prstGeom prst="roundRect">
            <a:avLst>
              <a:gd name="adj" fmla="val 16471"/>
            </a:avLst>
          </a:prstGeom>
          <a:solidFill>
            <a:srgbClr val="223A69"/>
          </a:solidFill>
          <a:ln/>
        </p:spPr>
      </p:sp>
      <p:sp>
        <p:nvSpPr>
          <p:cNvPr id="21" name="Shape 13"/>
          <p:cNvSpPr/>
          <p:nvPr/>
        </p:nvSpPr>
        <p:spPr>
          <a:xfrm>
            <a:off x="4434840" y="2377440"/>
            <a:ext cx="3429000" cy="320040"/>
          </a:xfrm>
          <a:prstGeom prst="rect">
            <a:avLst/>
          </a:prstGeom>
          <a:solidFill>
            <a:srgbClr val="223A69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2139696"/>
            <a:ext cx="365760" cy="3657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12080" y="1920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6BA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14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017520"/>
            <a:ext cx="146304" cy="14630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029200" y="2971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OAuth (validation device)</a:t>
            </a:r>
            <a:endParaRPr lang="en-US" sz="12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767328"/>
            <a:ext cx="146304" cy="14630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029200" y="37216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MiniLM embeddings sémantiques</a:t>
            </a:r>
            <a:endParaRPr lang="en-US" sz="12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4517136"/>
            <a:ext cx="146304" cy="146304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029200" y="447141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4B (dès dispo Android)</a:t>
            </a:r>
            <a:endParaRPr lang="en-US" sz="125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5266944"/>
            <a:ext cx="146304" cy="146304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029200" y="522122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Gmail → Keychain iOS</a:t>
            </a:r>
            <a:endParaRPr lang="en-US" sz="1250" dirty="0"/>
          </a:p>
        </p:txBody>
      </p:sp>
      <p:sp>
        <p:nvSpPr>
          <p:cNvPr id="32" name="Shape 19"/>
          <p:cNvSpPr/>
          <p:nvPr/>
        </p:nvSpPr>
        <p:spPr>
          <a:xfrm>
            <a:off x="8138160" y="1920240"/>
            <a:ext cx="3429000" cy="4160520"/>
          </a:xfrm>
          <a:prstGeom prst="roundRect">
            <a:avLst>
              <a:gd name="adj" fmla="val 3733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3" name="Shape 20"/>
          <p:cNvSpPr/>
          <p:nvPr/>
        </p:nvSpPr>
        <p:spPr>
          <a:xfrm>
            <a:off x="8138160" y="1920240"/>
            <a:ext cx="3429000" cy="777240"/>
          </a:xfrm>
          <a:prstGeom prst="roundRect">
            <a:avLst>
              <a:gd name="adj" fmla="val 16471"/>
            </a:avLst>
          </a:prstGeom>
          <a:solidFill>
            <a:srgbClr val="223A69"/>
          </a:solidFill>
          <a:ln/>
        </p:spPr>
      </p:sp>
      <p:sp>
        <p:nvSpPr>
          <p:cNvPr id="34" name="Shape 21"/>
          <p:cNvSpPr/>
          <p:nvPr/>
        </p:nvSpPr>
        <p:spPr>
          <a:xfrm>
            <a:off x="8138160" y="2377440"/>
            <a:ext cx="3429000" cy="320040"/>
          </a:xfrm>
          <a:prstGeom prst="rect">
            <a:avLst/>
          </a:prstGeom>
          <a:solidFill>
            <a:srgbClr val="223A69"/>
          </a:solidFill>
          <a:ln/>
        </p:spPr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0768" y="2139696"/>
            <a:ext cx="365760" cy="36576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8915400" y="1920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9B7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</a:t>
            </a:r>
            <a:endParaRPr lang="en-US" sz="14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3017520"/>
            <a:ext cx="146304" cy="14630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8732520" y="2971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Multi-sources (Notion, Drive)</a:t>
            </a:r>
            <a:endParaRPr lang="en-US" sz="1250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58200" y="3767328"/>
            <a:ext cx="146304" cy="146304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8732520" y="37216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PDF de conversation</a:t>
            </a:r>
            <a:endParaRPr lang="en-US" sz="1250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58200" y="4517136"/>
            <a:ext cx="146304" cy="146304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8732520" y="447141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Android</a:t>
            </a:r>
            <a:endParaRPr lang="en-US" sz="1250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8200" y="5266944"/>
            <a:ext cx="146304" cy="146304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8732520" y="5221224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Évaluation auto des réponses</a:t>
            </a:r>
            <a:endParaRPr lang="en-US" sz="1250" dirty="0"/>
          </a:p>
        </p:txBody>
      </p:sp>
      <p:sp>
        <p:nvSpPr>
          <p:cNvPr id="45" name="Text 27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1000" dirty="0"/>
          </a:p>
        </p:txBody>
      </p:sp>
      <p:sp>
        <p:nvSpPr>
          <p:cNvPr id="46" name="Text 28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 — GMAIL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→ RAG on-device, en vrai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A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Testé sur un vrai téléphone (Galaxy S24) avec une vraie boîte Gmail.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21992" y="1993392"/>
            <a:ext cx="1956816" cy="4133088"/>
          </a:xfrm>
          <a:prstGeom prst="roundRect">
            <a:avLst>
              <a:gd name="adj" fmla="val 6542"/>
            </a:avLst>
          </a:prstGeom>
          <a:solidFill>
            <a:srgbClr val="1A2F57"/>
          </a:solidFill>
          <a:ln w="12700">
            <a:solidFill>
              <a:srgbClr val="223A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6" name="Image 0" descr="/private/tmp/claude-501/-Users-kevinyankam-Documents-Astra/af490def-e26f-4cc9-849d-adb96a3c26ed/scratchpad/s2_do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057400"/>
            <a:ext cx="1828800" cy="40050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61904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Connexion (lecture seule)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285232" y="1993392"/>
            <a:ext cx="1956816" cy="4133088"/>
          </a:xfrm>
          <a:prstGeom prst="roundRect">
            <a:avLst>
              <a:gd name="adj" fmla="val 6542"/>
            </a:avLst>
          </a:prstGeom>
          <a:solidFill>
            <a:srgbClr val="1A2F57"/>
          </a:solidFill>
          <a:ln w="12700">
            <a:solidFill>
              <a:srgbClr val="223A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9" name="Image 1" descr="/private/tmp/claude-501/-Users-kevinyankam-Documents-Astra/af490def-e26f-4cc9-849d-adb96a3c26ed/scratchpad/s4_atta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057400"/>
            <a:ext cx="1828800" cy="40050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83480" y="61904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Pièce jointe dans le chat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348472" y="1993392"/>
            <a:ext cx="1956816" cy="4133088"/>
          </a:xfrm>
          <a:prstGeom prst="roundRect">
            <a:avLst>
              <a:gd name="adj" fmla="val 6542"/>
            </a:avLst>
          </a:prstGeom>
          <a:solidFill>
            <a:srgbClr val="1A2F57"/>
          </a:solidFill>
          <a:ln w="19050">
            <a:solidFill>
              <a:srgbClr val="35E0C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/private/tmp/claude-501/-Users-kevinyankam-Documents-Astra/af490def-e26f-4cc9-849d-adb96a3c26ed/scratchpad/phone_resu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57400"/>
            <a:ext cx="1828800" cy="40050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0" y="61904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Résumé d'un vrai mail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 TERRAIN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limites de l'Edge AI (constatées)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400032" y="1490472"/>
            <a:ext cx="2185416" cy="4695444"/>
          </a:xfrm>
          <a:prstGeom prst="roundRect">
            <a:avLst>
              <a:gd name="adj" fmla="val 5858"/>
            </a:avLst>
          </a:prstGeom>
          <a:solidFill>
            <a:srgbClr val="1A2F57"/>
          </a:solidFill>
          <a:ln w="12700">
            <a:solidFill>
              <a:srgbClr val="223A69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/private/tmp/claude-501/-Users-kevinyankam-Documents-Astra/af490def-e26f-4cc9-849d-adb96a3c26ed/scratchpad/s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1554480"/>
            <a:ext cx="2057400" cy="45674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98280" y="62133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réel : RAM &amp; modèles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8229600" cy="932688"/>
          </a:xfrm>
          <a:prstGeom prst="roundRect">
            <a:avLst>
              <a:gd name="adj" fmla="val 11765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1883664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737360" y="19385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Fenêtre de contexte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37360" y="224942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 tokens. 20 mails = 7592 tk → crash du moteur natif. Il a fallu tronquer l'entrée avant l'inférence.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907792"/>
            <a:ext cx="8229600" cy="932688"/>
          </a:xfrm>
          <a:prstGeom prst="roundRect">
            <a:avLst>
              <a:gd name="adj" fmla="val 11765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2962656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737360" y="30175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Taille des modèles vs RAM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737360" y="332841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4B « MISSING FILES », 1B « MODEL REQUIRED » — RAM/stockage limitent le choix (184 Mo libres au test).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3986784"/>
            <a:ext cx="8229600" cy="932688"/>
          </a:xfrm>
          <a:prstGeom prst="roundRect">
            <a:avLst>
              <a:gd name="adj" fmla="val 11765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14400" y="4041648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737360" y="409651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Latence &amp; chaleur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737360" y="44074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L'inférence locale est plus lente et chauffe le device ; un Mock Engine sert de secours.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5065776"/>
            <a:ext cx="8229600" cy="932688"/>
          </a:xfrm>
          <a:prstGeom prst="roundRect">
            <a:avLst>
              <a:gd name="adj" fmla="val 11765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14400" y="51206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🔌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737360" y="517550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natif non rattrapable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737360" y="54864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LiteRT-LM abandonne en SIGABRT — impossible à catcher en Kotlin, la prévention est obligatoire.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QU'ON A DÛ RÉSOUDRE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&amp; solutions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0698480" cy="658368"/>
          </a:xfrm>
          <a:prstGeom prst="roundRect">
            <a:avLst>
              <a:gd name="adj" fmla="val 13889"/>
            </a:avLst>
          </a:prstGeom>
          <a:solidFill>
            <a:srgbClr val="1A2F5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20240"/>
            <a:ext cx="292608" cy="292608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7373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Gmail refusé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37760" y="17373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« Custom URI scheme not enabled » — désactivé par défaut sur les clients Android → activé dans la console.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496312"/>
            <a:ext cx="10698480" cy="658368"/>
          </a:xfrm>
          <a:prstGeom prst="roundRect">
            <a:avLst>
              <a:gd name="adj" fmla="val 13889"/>
            </a:avLst>
          </a:prstGeom>
          <a:solidFill>
            <a:srgbClr val="1A2F57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2679192"/>
            <a:ext cx="292608" cy="292608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4963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au 1er « Connect »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37760" y="249631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prompt en paramètre additionnel, rejeté par AppAuth → routé via setPromptValues.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55264"/>
            <a:ext cx="10698480" cy="658368"/>
          </a:xfrm>
          <a:prstGeom prst="roundRect">
            <a:avLst>
              <a:gd name="adj" fmla="val 13889"/>
            </a:avLst>
          </a:prstGeom>
          <a:solidFill>
            <a:srgbClr val="1A2F57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3438144"/>
            <a:ext cx="292608" cy="292608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25526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 d'inférence (gros contenu)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37760" y="325526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Input &gt; contexte → SIGABRT natif non rattrapable → garde-fou de troncature.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14216"/>
            <a:ext cx="10698480" cy="658368"/>
          </a:xfrm>
          <a:prstGeom prst="roundRect">
            <a:avLst>
              <a:gd name="adj" fmla="val 13889"/>
            </a:avLst>
          </a:prstGeom>
          <a:solidFill>
            <a:srgbClr val="1A2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4197096"/>
            <a:ext cx="292608" cy="292608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401421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ne compilait pas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37760" y="401421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setActive = extension cinterop (pas un membre) → import explicite + opt-in.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773168"/>
            <a:ext cx="10698480" cy="658368"/>
          </a:xfrm>
          <a:prstGeom prst="roundRect">
            <a:avLst>
              <a:gd name="adj" fmla="val 13889"/>
            </a:avLst>
          </a:prstGeom>
          <a:solidFill>
            <a:srgbClr val="1A2F57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" y="4956048"/>
            <a:ext cx="292608" cy="292608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477316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&amp; iOS pourris en silence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0" y="477316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Suite cassée, iOS jamais buildé → CI Android + iOS + tests sur chaque PR.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532120"/>
            <a:ext cx="10698480" cy="658368"/>
          </a:xfrm>
          <a:prstGeom prst="roundRect">
            <a:avLst>
              <a:gd name="adj" fmla="val 13889"/>
            </a:avLst>
          </a:prstGeom>
          <a:solidFill>
            <a:srgbClr val="1A2F57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5715000"/>
            <a:ext cx="292608" cy="292608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26" name="Text 24"/>
          <p:cNvSpPr/>
          <p:nvPr/>
        </p:nvSpPr>
        <p:spPr>
          <a:xfrm>
            <a:off x="1463040" y="55321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Régression charset email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0" y="55321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Corps Latin-1 en mojibake → décodage selon le charset déclaré du message.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 sur un vrai appareil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400032" y="1490472"/>
            <a:ext cx="2185416" cy="4633722"/>
          </a:xfrm>
          <a:prstGeom prst="roundRect">
            <a:avLst>
              <a:gd name="adj" fmla="val 5858"/>
            </a:avLst>
          </a:prstGeom>
          <a:solidFill>
            <a:srgbClr val="1A2F57"/>
          </a:solidFill>
          <a:ln w="19050">
            <a:solidFill>
              <a:srgbClr val="35E0C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/private/tmp/claude-501/-Users-kevinyankam-Documents-Astra/af490def-e26f-4cc9-849d-adb96a3c26ed/scratchpad/phone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1554480"/>
            <a:ext cx="2057400" cy="45057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98280" y="615162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5E0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Résumé d'un vrai mail, on-device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8229600" cy="932688"/>
          </a:xfrm>
          <a:prstGeom prst="roundRect">
            <a:avLst>
              <a:gd name="adj" fmla="val 11765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1883664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91640" y="19385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Bout-en-bout sur device réel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91640" y="2249424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Consentement → token chiffré → API Gmail → parsing → indexation → résumé Gemma, sans crash.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907792"/>
            <a:ext cx="8229600" cy="932688"/>
          </a:xfrm>
          <a:prstGeom prst="roundRect">
            <a:avLst>
              <a:gd name="adj" fmla="val 11765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2962656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691640" y="30175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Multiplateforme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91640" y="3328416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+ iOS compilent ; parser email partagé ; OAuth natif par plateforme.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3986784"/>
            <a:ext cx="8229600" cy="932688"/>
          </a:xfrm>
          <a:prstGeom prst="roundRect">
            <a:avLst>
              <a:gd name="adj" fmla="val 11765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14400" y="4041648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691640" y="40965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 outillée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691640" y="4407408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tests verts, CI Android + iOS, orchestration RAG extraite en use cases.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31520" y="5065776"/>
            <a:ext cx="8229600" cy="932688"/>
          </a:xfrm>
          <a:prstGeom prst="roundRect">
            <a:avLst>
              <a:gd name="adj" fmla="val 11765"/>
            </a:avLst>
          </a:prstGeom>
          <a:solidFill>
            <a:srgbClr val="1A2F57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14400" y="51206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691640" y="517550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Promesse tenue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691640" y="548640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Mails récupérés de Google, puis analysés uniquement sur l'appareil.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69848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09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828800"/>
            <a:ext cx="9144000" cy="9144000"/>
          </a:xfrm>
          <a:prstGeom prst="ellipse">
            <a:avLst/>
          </a:prstGeom>
          <a:solidFill>
            <a:srgbClr val="4472C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457200"/>
            <a:ext cx="5486400" cy="5486400"/>
          </a:xfrm>
          <a:prstGeom prst="ellipse">
            <a:avLst/>
          </a:prstGeom>
          <a:solidFill>
            <a:srgbClr val="35E0C1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ASTRA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de demain tourne déjà sur votre appareil aujourd'hui.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794760" y="3794760"/>
            <a:ext cx="1371600" cy="1371600"/>
          </a:xfrm>
          <a:prstGeom prst="ellipse">
            <a:avLst/>
          </a:prstGeom>
          <a:solidFill>
            <a:srgbClr val="1A2F57"/>
          </a:solidFill>
          <a:ln w="25400">
            <a:solidFill>
              <a:srgbClr val="35E0C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4160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66160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Privé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3794760"/>
            <a:ext cx="1371600" cy="1371600"/>
          </a:xfrm>
          <a:prstGeom prst="ellipse">
            <a:avLst/>
          </a:prstGeom>
          <a:solidFill>
            <a:srgbClr val="1A2F57"/>
          </a:solidFill>
          <a:ln w="25400">
            <a:solidFill>
              <a:srgbClr val="35E0C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160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178040" y="3794760"/>
            <a:ext cx="1371600" cy="1371600"/>
          </a:xfrm>
          <a:prstGeom prst="ellipse">
            <a:avLst/>
          </a:prstGeom>
          <a:solidFill>
            <a:srgbClr val="1A2F57"/>
          </a:solidFill>
          <a:ln w="25400">
            <a:solidFill>
              <a:srgbClr val="35E0C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1605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 ligne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251960" y="5715000"/>
            <a:ext cx="3657600" cy="548640"/>
          </a:xfrm>
          <a:prstGeom prst="roundRect">
            <a:avLst>
              <a:gd name="adj" fmla="val 50000"/>
            </a:avLst>
          </a:prstGeom>
          <a:solidFill>
            <a:srgbClr val="35E0C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584301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29200" y="5715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B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github.com/YANKAMKEVIN/Astra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 — Edge AI On-Device</dc:title>
  <dc:subject>PptxGenJS Presentation</dc:subject>
  <dc:creator>Kevin YANKAM</dc:creator>
  <cp:lastModifiedBy>Kevin YANKAM</cp:lastModifiedBy>
  <cp:revision>1</cp:revision>
  <dcterms:created xsi:type="dcterms:W3CDTF">2026-07-03T14:05:50Z</dcterms:created>
  <dcterms:modified xsi:type="dcterms:W3CDTF">2026-07-03T14:05:50Z</dcterms:modified>
</cp:coreProperties>
</file>